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1374100" cy="30276800"/>
  <p:notesSz cx="6858000" cy="9144000"/>
  <p:embeddedFontLst>
    <p:embeddedFont>
      <p:font typeface="Anek Bangla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67763-0696-4327-BC59-A3A68D6C59FE}" v="21" dt="2025-10-29T01:09:15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596" y="-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B. Albarracin" userId="e8a91181e28c2be2" providerId="LiveId" clId="{A3E2793A-C79D-4ED2-9B0F-F07E7AD4525F}"/>
    <pc:docChg chg="undo custSel modSld">
      <pc:chgData name="Cristian B. Albarracin" userId="e8a91181e28c2be2" providerId="LiveId" clId="{A3E2793A-C79D-4ED2-9B0F-F07E7AD4525F}" dt="2025-10-29T01:10:24.615" v="416" actId="20577"/>
      <pc:docMkLst>
        <pc:docMk/>
      </pc:docMkLst>
      <pc:sldChg chg="addSp delSp modSp mod">
        <pc:chgData name="Cristian B. Albarracin" userId="e8a91181e28c2be2" providerId="LiveId" clId="{A3E2793A-C79D-4ED2-9B0F-F07E7AD4525F}" dt="2025-10-29T01:10:24.615" v="416" actId="20577"/>
        <pc:sldMkLst>
          <pc:docMk/>
          <pc:sldMk cId="0" sldId="256"/>
        </pc:sldMkLst>
        <pc:spChg chg="mod">
          <ac:chgData name="Cristian B. Albarracin" userId="e8a91181e28c2be2" providerId="LiveId" clId="{A3E2793A-C79D-4ED2-9B0F-F07E7AD4525F}" dt="2025-10-29T00:04:13.112" v="167" actId="123"/>
          <ac:spMkLst>
            <pc:docMk/>
            <pc:sldMk cId="0" sldId="256"/>
            <ac:spMk id="4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7:03.685" v="21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5:02.575" v="178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4:00.978" v="165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6:30.249" v="202" actId="403"/>
          <ac:spMkLst>
            <pc:docMk/>
            <pc:sldMk cId="0" sldId="256"/>
            <ac:spMk id="12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2:46.226" v="137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1:10:24.615" v="416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7:09.984" v="213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23:58.877" v="378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8T23:58:40.940" v="63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9:36.572" v="362" actId="404"/>
          <ac:spMkLst>
            <pc:docMk/>
            <pc:sldMk cId="0" sldId="256"/>
            <ac:spMk id="34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2:54.638" v="139" actId="107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1:04:20.298" v="390" actId="6549"/>
          <ac:spMkLst>
            <pc:docMk/>
            <pc:sldMk cId="0" sldId="256"/>
            <ac:spMk id="38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2:31.184" v="135" actId="107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4:34.623" v="173" actId="20577"/>
          <ac:spMkLst>
            <pc:docMk/>
            <pc:sldMk cId="0" sldId="256"/>
            <ac:spMk id="42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31:31.185" v="380" actId="1076"/>
          <ac:spMkLst>
            <pc:docMk/>
            <pc:sldMk cId="0" sldId="256"/>
            <ac:spMk id="44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7:18.333" v="215" actId="1076"/>
          <ac:spMkLst>
            <pc:docMk/>
            <pc:sldMk cId="0" sldId="256"/>
            <ac:spMk id="45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24:04.421" v="379" actId="107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Cristian B. Albarracin" userId="e8a91181e28c2be2" providerId="LiveId" clId="{A3E2793A-C79D-4ED2-9B0F-F07E7AD4525F}" dt="2025-10-29T00:00:57.343" v="109" actId="20577"/>
          <ac:spMkLst>
            <pc:docMk/>
            <pc:sldMk cId="0" sldId="256"/>
            <ac:spMk id="47" creationId="{00000000-0000-0000-0000-000000000000}"/>
          </ac:spMkLst>
        </pc:spChg>
        <pc:spChg chg="add del">
          <ac:chgData name="Cristian B. Albarracin" userId="e8a91181e28c2be2" providerId="LiveId" clId="{A3E2793A-C79D-4ED2-9B0F-F07E7AD4525F}" dt="2025-10-28T23:54:33.291" v="9" actId="22"/>
          <ac:spMkLst>
            <pc:docMk/>
            <pc:sldMk cId="0" sldId="256"/>
            <ac:spMk id="52" creationId="{43220FDA-6456-48E3-C8FB-3C277C7E7820}"/>
          </ac:spMkLst>
        </pc:spChg>
        <pc:spChg chg="add">
          <ac:chgData name="Cristian B. Albarracin" userId="e8a91181e28c2be2" providerId="LiveId" clId="{A3E2793A-C79D-4ED2-9B0F-F07E7AD4525F}" dt="2025-10-28T23:54:36.702" v="10"/>
          <ac:spMkLst>
            <pc:docMk/>
            <pc:sldMk cId="0" sldId="256"/>
            <ac:spMk id="53" creationId="{FC6CEC10-3E47-EDA1-127D-834E6BE5147F}"/>
          </ac:spMkLst>
        </pc:spChg>
        <pc:spChg chg="add del mod">
          <ac:chgData name="Cristian B. Albarracin" userId="e8a91181e28c2be2" providerId="LiveId" clId="{A3E2793A-C79D-4ED2-9B0F-F07E7AD4525F}" dt="2025-10-29T00:00:35.626" v="94"/>
          <ac:spMkLst>
            <pc:docMk/>
            <pc:sldMk cId="0" sldId="256"/>
            <ac:spMk id="55" creationId="{80461F5C-D9DA-89D1-08D0-A574AE3A2E18}"/>
          </ac:spMkLst>
        </pc:spChg>
        <pc:spChg chg="add del mod">
          <ac:chgData name="Cristian B. Albarracin" userId="e8a91181e28c2be2" providerId="LiveId" clId="{A3E2793A-C79D-4ED2-9B0F-F07E7AD4525F}" dt="2025-10-29T00:00:35.626" v="96"/>
          <ac:spMkLst>
            <pc:docMk/>
            <pc:sldMk cId="0" sldId="256"/>
            <ac:spMk id="57" creationId="{5BC316B5-2731-18E2-D854-CE6EFA0004A8}"/>
          </ac:spMkLst>
        </pc:spChg>
        <pc:spChg chg="add mod">
          <ac:chgData name="Cristian B. Albarracin" userId="e8a91181e28c2be2" providerId="LiveId" clId="{A3E2793A-C79D-4ED2-9B0F-F07E7AD4525F}" dt="2025-10-28T23:57:38.262" v="51"/>
          <ac:spMkLst>
            <pc:docMk/>
            <pc:sldMk cId="0" sldId="256"/>
            <ac:spMk id="58" creationId="{C75B5869-95CE-B73C-B1F0-B4D3744DC478}"/>
          </ac:spMkLst>
        </pc:spChg>
        <pc:spChg chg="add del mod">
          <ac:chgData name="Cristian B. Albarracin" userId="e8a91181e28c2be2" providerId="LiveId" clId="{A3E2793A-C79D-4ED2-9B0F-F07E7AD4525F}" dt="2025-10-29T00:00:35.627" v="98"/>
          <ac:spMkLst>
            <pc:docMk/>
            <pc:sldMk cId="0" sldId="256"/>
            <ac:spMk id="60" creationId="{064025D9-42D9-6F95-3321-F54B73DFD264}"/>
          </ac:spMkLst>
        </pc:spChg>
        <pc:spChg chg="add del mod">
          <ac:chgData name="Cristian B. Albarracin" userId="e8a91181e28c2be2" providerId="LiveId" clId="{A3E2793A-C79D-4ED2-9B0F-F07E7AD4525F}" dt="2025-10-29T00:00:35.627" v="100"/>
          <ac:spMkLst>
            <pc:docMk/>
            <pc:sldMk cId="0" sldId="256"/>
            <ac:spMk id="62" creationId="{A5B8E6AC-E8CC-0A91-F47B-C90487BBF2A0}"/>
          </ac:spMkLst>
        </pc:spChg>
        <pc:spChg chg="add del mod">
          <ac:chgData name="Cristian B. Albarracin" userId="e8a91181e28c2be2" providerId="LiveId" clId="{A3E2793A-C79D-4ED2-9B0F-F07E7AD4525F}" dt="2025-10-29T00:00:35.628" v="102"/>
          <ac:spMkLst>
            <pc:docMk/>
            <pc:sldMk cId="0" sldId="256"/>
            <ac:spMk id="64" creationId="{E566578F-3FD2-FCB9-586D-11D00ED1F2FB}"/>
          </ac:spMkLst>
        </pc:spChg>
        <pc:spChg chg="add del mod">
          <ac:chgData name="Cristian B. Albarracin" userId="e8a91181e28c2be2" providerId="LiveId" clId="{A3E2793A-C79D-4ED2-9B0F-F07E7AD4525F}" dt="2025-10-29T00:00:58.949" v="111"/>
          <ac:spMkLst>
            <pc:docMk/>
            <pc:sldMk cId="0" sldId="256"/>
            <ac:spMk id="67" creationId="{FA69658A-ACC8-1EE6-0909-B5AAF0723EF5}"/>
          </ac:spMkLst>
        </pc:spChg>
        <pc:spChg chg="add del mod">
          <ac:chgData name="Cristian B. Albarracin" userId="e8a91181e28c2be2" providerId="LiveId" clId="{A3E2793A-C79D-4ED2-9B0F-F07E7AD4525F}" dt="2025-10-29T00:04:54.128" v="177"/>
          <ac:spMkLst>
            <pc:docMk/>
            <pc:sldMk cId="0" sldId="256"/>
            <ac:spMk id="69" creationId="{6E94692D-5248-0CE4-2C9E-E3600695DC4F}"/>
          </ac:spMkLst>
        </pc:spChg>
        <pc:spChg chg="add del mod">
          <ac:chgData name="Cristian B. Albarracin" userId="e8a91181e28c2be2" providerId="LiveId" clId="{A3E2793A-C79D-4ED2-9B0F-F07E7AD4525F}" dt="2025-10-29T00:07:23.592" v="218"/>
          <ac:spMkLst>
            <pc:docMk/>
            <pc:sldMk cId="0" sldId="256"/>
            <ac:spMk id="71" creationId="{C54109D5-0E1D-F6B8-7E30-D88054B8EC55}"/>
          </ac:spMkLst>
        </pc:spChg>
        <pc:spChg chg="add mod">
          <ac:chgData name="Cristian B. Albarracin" userId="e8a91181e28c2be2" providerId="LiveId" clId="{A3E2793A-C79D-4ED2-9B0F-F07E7AD4525F}" dt="2025-10-29T00:31:37.360" v="381" actId="313"/>
          <ac:spMkLst>
            <pc:docMk/>
            <pc:sldMk cId="0" sldId="256"/>
            <ac:spMk id="72" creationId="{BA04D10B-F1B3-422F-7F28-0C7B686CCF2E}"/>
          </ac:spMkLst>
        </pc:spChg>
        <pc:spChg chg="add mod">
          <ac:chgData name="Cristian B. Albarracin" userId="e8a91181e28c2be2" providerId="LiveId" clId="{A3E2793A-C79D-4ED2-9B0F-F07E7AD4525F}" dt="2025-10-29T00:08:24.190" v="309" actId="20577"/>
          <ac:spMkLst>
            <pc:docMk/>
            <pc:sldMk cId="0" sldId="256"/>
            <ac:spMk id="73" creationId="{98E48C5A-134F-EC1E-629B-A0E603EAA9A2}"/>
          </ac:spMkLst>
        </pc:spChg>
        <pc:spChg chg="add mod">
          <ac:chgData name="Cristian B. Albarracin" userId="e8a91181e28c2be2" providerId="LiveId" clId="{A3E2793A-C79D-4ED2-9B0F-F07E7AD4525F}" dt="2025-10-29T00:15:05.565" v="365" actId="20577"/>
          <ac:spMkLst>
            <pc:docMk/>
            <pc:sldMk cId="0" sldId="256"/>
            <ac:spMk id="74" creationId="{8F685E81-8B20-5B71-9425-1D8FF5226864}"/>
          </ac:spMkLst>
        </pc:spChg>
        <pc:spChg chg="add mod">
          <ac:chgData name="Cristian B. Albarracin" userId="e8a91181e28c2be2" providerId="LiveId" clId="{A3E2793A-C79D-4ED2-9B0F-F07E7AD4525F}" dt="2025-10-29T00:15:38.277" v="368" actId="20577"/>
          <ac:spMkLst>
            <pc:docMk/>
            <pc:sldMk cId="0" sldId="256"/>
            <ac:spMk id="75" creationId="{27FD8F41-E50C-F425-9ABB-7B12BD13E6C8}"/>
          </ac:spMkLst>
        </pc:spChg>
        <pc:grpChg chg="mod">
          <ac:chgData name="Cristian B. Albarracin" userId="e8a91181e28c2be2" providerId="LiveId" clId="{A3E2793A-C79D-4ED2-9B0F-F07E7AD4525F}" dt="2025-10-29T00:07:00.841" v="210" actId="14100"/>
          <ac:grpSpMkLst>
            <pc:docMk/>
            <pc:sldMk cId="0" sldId="256"/>
            <ac:grpSpMk id="3" creationId="{00000000-0000-0000-0000-000000000000}"/>
          </ac:grpSpMkLst>
        </pc:grpChg>
        <pc:grpChg chg="mod">
          <ac:chgData name="Cristian B. Albarracin" userId="e8a91181e28c2be2" providerId="LiveId" clId="{A3E2793A-C79D-4ED2-9B0F-F07E7AD4525F}" dt="2025-10-29T00:04:53.188" v="175" actId="1076"/>
          <ac:grpSpMkLst>
            <pc:docMk/>
            <pc:sldMk cId="0" sldId="256"/>
            <ac:grpSpMk id="7" creationId="{00000000-0000-0000-0000-000000000000}"/>
          </ac:grpSpMkLst>
        </pc:grpChg>
        <pc:grpChg chg="mod">
          <ac:chgData name="Cristian B. Albarracin" userId="e8a91181e28c2be2" providerId="LiveId" clId="{A3E2793A-C79D-4ED2-9B0F-F07E7AD4525F}" dt="2025-10-29T00:07:06.655" v="212" actId="14100"/>
          <ac:grpSpMkLst>
            <pc:docMk/>
            <pc:sldMk cId="0" sldId="256"/>
            <ac:grpSpMk id="15" creationId="{00000000-0000-0000-0000-000000000000}"/>
          </ac:grpSpMkLst>
        </pc:grpChg>
        <pc:grpChg chg="mod">
          <ac:chgData name="Cristian B. Albarracin" userId="e8a91181e28c2be2" providerId="LiveId" clId="{A3E2793A-C79D-4ED2-9B0F-F07E7AD4525F}" dt="2025-10-29T00:06:52.607" v="209" actId="14100"/>
          <ac:grpSpMkLst>
            <pc:docMk/>
            <pc:sldMk cId="0" sldId="256"/>
            <ac:grpSpMk id="19" creationId="{00000000-0000-0000-0000-000000000000}"/>
          </ac:grpSpMkLst>
        </pc:grpChg>
        <pc:graphicFrameChg chg="add mod">
          <ac:chgData name="Cristian B. Albarracin" userId="e8a91181e28c2be2" providerId="LiveId" clId="{A3E2793A-C79D-4ED2-9B0F-F07E7AD4525F}" dt="2025-10-29T00:00:33.791" v="92"/>
          <ac:graphicFrameMkLst>
            <pc:docMk/>
            <pc:sldMk cId="0" sldId="256"/>
            <ac:graphicFrameMk id="65" creationId="{0C2DB067-5B29-BD1C-8DAF-226865A6B49A}"/>
          </ac:graphicFrameMkLst>
        </pc:graphicFrameChg>
        <pc:picChg chg="add mod">
          <ac:chgData name="Cristian B. Albarracin" userId="e8a91181e28c2be2" providerId="LiveId" clId="{A3E2793A-C79D-4ED2-9B0F-F07E7AD4525F}" dt="2025-10-29T01:08:04.845" v="395" actId="1076"/>
          <ac:picMkLst>
            <pc:docMk/>
            <pc:sldMk cId="0" sldId="256"/>
            <ac:picMk id="77" creationId="{A7A4736E-D357-67C5-0B93-A04F2DDC0F07}"/>
          </ac:picMkLst>
        </pc:picChg>
        <pc:picChg chg="add mod">
          <ac:chgData name="Cristian B. Albarracin" userId="e8a91181e28c2be2" providerId="LiveId" clId="{A3E2793A-C79D-4ED2-9B0F-F07E7AD4525F}" dt="2025-10-29T01:08:07.394" v="396" actId="1076"/>
          <ac:picMkLst>
            <pc:docMk/>
            <pc:sldMk cId="0" sldId="256"/>
            <ac:picMk id="79" creationId="{31C92737-CB2D-D2FD-66C6-3B87BC5680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FDADA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77456" y="10072140"/>
            <a:ext cx="16029088" cy="10131719"/>
          </a:xfrm>
          <a:custGeom>
            <a:avLst/>
            <a:gdLst/>
            <a:ahLst/>
            <a:cxnLst/>
            <a:rect l="l" t="t" r="r" b="b"/>
            <a:pathLst>
              <a:path w="16029088" h="10131719">
                <a:moveTo>
                  <a:pt x="0" y="0"/>
                </a:moveTo>
                <a:lnTo>
                  <a:pt x="16029088" y="0"/>
                </a:lnTo>
                <a:lnTo>
                  <a:pt x="16029088" y="10131720"/>
                </a:lnTo>
                <a:lnTo>
                  <a:pt x="0" y="1013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grpSp>
        <p:nvGrpSpPr>
          <p:cNvPr id="3" name="Group 3"/>
          <p:cNvGrpSpPr/>
          <p:nvPr/>
        </p:nvGrpSpPr>
        <p:grpSpPr>
          <a:xfrm>
            <a:off x="2138400" y="4375875"/>
            <a:ext cx="5798206" cy="4049784"/>
            <a:chOff x="0" y="-47625"/>
            <a:chExt cx="734627" cy="3552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4627" cy="307659"/>
            </a:xfrm>
            <a:custGeom>
              <a:avLst/>
              <a:gdLst/>
              <a:ahLst/>
              <a:cxnLst/>
              <a:rect l="l" t="t" r="r" b="b"/>
              <a:pathLst>
                <a:path w="734627" h="219861">
                  <a:moveTo>
                    <a:pt x="30710" y="0"/>
                  </a:moveTo>
                  <a:lnTo>
                    <a:pt x="703917" y="0"/>
                  </a:lnTo>
                  <a:cubicBezTo>
                    <a:pt x="720878" y="0"/>
                    <a:pt x="734627" y="13749"/>
                    <a:pt x="734627" y="30710"/>
                  </a:cubicBezTo>
                  <a:lnTo>
                    <a:pt x="734627" y="189150"/>
                  </a:lnTo>
                  <a:cubicBezTo>
                    <a:pt x="734627" y="206111"/>
                    <a:pt x="720878" y="219861"/>
                    <a:pt x="703917" y="219861"/>
                  </a:cubicBezTo>
                  <a:lnTo>
                    <a:pt x="30710" y="219861"/>
                  </a:lnTo>
                  <a:cubicBezTo>
                    <a:pt x="13749" y="219861"/>
                    <a:pt x="0" y="206111"/>
                    <a:pt x="0" y="189150"/>
                  </a:cubicBezTo>
                  <a:lnTo>
                    <a:pt x="0" y="30710"/>
                  </a:lnTo>
                  <a:cubicBezTo>
                    <a:pt x="0" y="13749"/>
                    <a:pt x="13749" y="0"/>
                    <a:pt x="307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A8E3"/>
              </a:solidFill>
              <a:prstDash val="solid"/>
              <a:round/>
            </a:ln>
          </p:spPr>
          <p:txBody>
            <a:bodyPr/>
            <a:lstStyle/>
            <a:p>
              <a:endParaRPr lang="es-AR" dirty="0"/>
            </a:p>
            <a:p>
              <a:endParaRPr lang="es-AR" dirty="0"/>
            </a:p>
            <a:p>
              <a:pPr algn="just"/>
              <a:r>
                <a:rPr lang="es-AR" sz="2400" dirty="0"/>
                <a:t>Es un trabajo práctico orientado a demostrar un flujo completo </a:t>
              </a:r>
              <a:r>
                <a:rPr lang="es-AR" sz="2400" dirty="0" err="1"/>
                <a:t>Extract</a:t>
              </a:r>
              <a:r>
                <a:rPr lang="es-AR" sz="2400" dirty="0"/>
                <a:t> - </a:t>
              </a:r>
              <a:r>
                <a:rPr lang="es-AR" sz="2400" dirty="0" err="1"/>
                <a:t>Transform</a:t>
              </a:r>
              <a:r>
                <a:rPr lang="es-AR" sz="2400" dirty="0"/>
                <a:t> - Load (ETL) con Python. Consiste en la exploración, transformación y limpieza de datos utilizando Pandas</a:t>
              </a:r>
            </a:p>
            <a:p>
              <a:endParaRPr lang="es-AR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734627" cy="267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19131" y="5095400"/>
            <a:ext cx="2827932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sz="2199" b="1" dirty="0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TIPO DE PROYECTO: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38399" y="8218313"/>
            <a:ext cx="5828143" cy="1602494"/>
            <a:chOff x="-3793" y="-47625"/>
            <a:chExt cx="738420" cy="245017"/>
          </a:xfrm>
        </p:grpSpPr>
        <p:sp>
          <p:nvSpPr>
            <p:cNvPr id="8" name="Freeform 8"/>
            <p:cNvSpPr/>
            <p:nvPr/>
          </p:nvSpPr>
          <p:spPr>
            <a:xfrm>
              <a:off x="-3793" y="17896"/>
              <a:ext cx="734627" cy="154900"/>
            </a:xfrm>
            <a:custGeom>
              <a:avLst/>
              <a:gdLst/>
              <a:ahLst/>
              <a:cxnLst/>
              <a:rect l="l" t="t" r="r" b="b"/>
              <a:pathLst>
                <a:path w="734627" h="197392">
                  <a:moveTo>
                    <a:pt x="30710" y="0"/>
                  </a:moveTo>
                  <a:lnTo>
                    <a:pt x="703917" y="0"/>
                  </a:lnTo>
                  <a:cubicBezTo>
                    <a:pt x="720878" y="0"/>
                    <a:pt x="734627" y="13749"/>
                    <a:pt x="734627" y="30710"/>
                  </a:cubicBezTo>
                  <a:lnTo>
                    <a:pt x="734627" y="166682"/>
                  </a:lnTo>
                  <a:cubicBezTo>
                    <a:pt x="734627" y="183643"/>
                    <a:pt x="720878" y="197392"/>
                    <a:pt x="703917" y="197392"/>
                  </a:cubicBezTo>
                  <a:lnTo>
                    <a:pt x="30710" y="197392"/>
                  </a:lnTo>
                  <a:cubicBezTo>
                    <a:pt x="13749" y="197392"/>
                    <a:pt x="0" y="183643"/>
                    <a:pt x="0" y="166682"/>
                  </a:cubicBezTo>
                  <a:lnTo>
                    <a:pt x="0" y="30710"/>
                  </a:lnTo>
                  <a:cubicBezTo>
                    <a:pt x="0" y="13749"/>
                    <a:pt x="13749" y="0"/>
                    <a:pt x="307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A8E3"/>
              </a:solidFill>
              <a:prstDash val="solid"/>
              <a:round/>
            </a:ln>
          </p:spPr>
          <p:txBody>
            <a:bodyPr/>
            <a:lstStyle/>
            <a:p>
              <a:endParaRPr lang="es-AR" dirty="0"/>
            </a:p>
            <a:p>
              <a:endParaRPr lang="es-AR" dirty="0"/>
            </a:p>
            <a:p>
              <a:r>
                <a:rPr lang="es-AR" sz="2400" dirty="0"/>
                <a:t>Base de Datos II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34627" cy="245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48874" y="8683095"/>
            <a:ext cx="4373269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sz="2199" b="1" dirty="0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ESPACIO CURRICULAR/MÓDULO: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138400" y="9651771"/>
            <a:ext cx="5798206" cy="3652621"/>
            <a:chOff x="0" y="-28575"/>
            <a:chExt cx="749085" cy="4718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9085" cy="443316"/>
            </a:xfrm>
            <a:custGeom>
              <a:avLst/>
              <a:gdLst/>
              <a:ahLst/>
              <a:cxnLst/>
              <a:rect l="l" t="t" r="r" b="b"/>
              <a:pathLst>
                <a:path w="749085" h="234976">
                  <a:moveTo>
                    <a:pt x="30710" y="0"/>
                  </a:moveTo>
                  <a:lnTo>
                    <a:pt x="718375" y="0"/>
                  </a:lnTo>
                  <a:cubicBezTo>
                    <a:pt x="735336" y="0"/>
                    <a:pt x="749085" y="13749"/>
                    <a:pt x="749085" y="30710"/>
                  </a:cubicBezTo>
                  <a:lnTo>
                    <a:pt x="749085" y="204266"/>
                  </a:lnTo>
                  <a:cubicBezTo>
                    <a:pt x="749085" y="221227"/>
                    <a:pt x="735336" y="234976"/>
                    <a:pt x="718375" y="234976"/>
                  </a:cubicBezTo>
                  <a:lnTo>
                    <a:pt x="30710" y="234976"/>
                  </a:lnTo>
                  <a:cubicBezTo>
                    <a:pt x="13749" y="234976"/>
                    <a:pt x="0" y="221227"/>
                    <a:pt x="0" y="204266"/>
                  </a:cubicBezTo>
                  <a:lnTo>
                    <a:pt x="0" y="30710"/>
                  </a:lnTo>
                  <a:cubicBezTo>
                    <a:pt x="0" y="13749"/>
                    <a:pt x="13749" y="0"/>
                    <a:pt x="307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A8E3"/>
              </a:solidFill>
              <a:prstDash val="solid"/>
              <a:round/>
            </a:ln>
          </p:spPr>
          <p:txBody>
            <a:bodyPr/>
            <a:lstStyle/>
            <a:p>
              <a:endParaRPr lang="es-AR" dirty="0"/>
            </a:p>
            <a:p>
              <a:endParaRPr lang="es-AR" dirty="0"/>
            </a:p>
            <a:p>
              <a:r>
                <a:rPr lang="es-AR" sz="2400" dirty="0"/>
                <a:t>Flujo completo ETL, Limpieza y enriquecimiento de datos con Pandas, Análisis Exploratorio de Datos (EDA) y visualizaciones, Carga a base de datos relacional (Load), Consultas y validación de datos mediante SQL</a:t>
              </a:r>
            </a:p>
            <a:p>
              <a:endParaRPr lang="es-AR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749085" cy="263551"/>
            </a:xfrm>
            <a:prstGeom prst="rect">
              <a:avLst/>
            </a:prstGeom>
          </p:spPr>
          <p:txBody>
            <a:bodyPr lIns="49820" tIns="49820" rIns="49820" bIns="4982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040255" y="10036059"/>
            <a:ext cx="4379685" cy="37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0"/>
              </a:lnSpc>
            </a:pPr>
            <a:r>
              <a:rPr lang="en-US" sz="2157" b="1" dirty="0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EJES | UNIDADES CONCEPTUALES: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479531" y="4828867"/>
            <a:ext cx="5257049" cy="8531328"/>
            <a:chOff x="0" y="0"/>
            <a:chExt cx="666063" cy="7414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6063" cy="741448"/>
            </a:xfrm>
            <a:custGeom>
              <a:avLst/>
              <a:gdLst/>
              <a:ahLst/>
              <a:cxnLst/>
              <a:rect l="l" t="t" r="r" b="b"/>
              <a:pathLst>
                <a:path w="666063" h="741448">
                  <a:moveTo>
                    <a:pt x="33872" y="0"/>
                  </a:moveTo>
                  <a:lnTo>
                    <a:pt x="632192" y="0"/>
                  </a:lnTo>
                  <a:cubicBezTo>
                    <a:pt x="641175" y="0"/>
                    <a:pt x="649790" y="3569"/>
                    <a:pt x="656143" y="9921"/>
                  </a:cubicBezTo>
                  <a:cubicBezTo>
                    <a:pt x="662495" y="16273"/>
                    <a:pt x="666063" y="24888"/>
                    <a:pt x="666063" y="33872"/>
                  </a:cubicBezTo>
                  <a:lnTo>
                    <a:pt x="666063" y="707576"/>
                  </a:lnTo>
                  <a:cubicBezTo>
                    <a:pt x="666063" y="716560"/>
                    <a:pt x="662495" y="725175"/>
                    <a:pt x="656143" y="731527"/>
                  </a:cubicBezTo>
                  <a:cubicBezTo>
                    <a:pt x="649790" y="737879"/>
                    <a:pt x="641175" y="741448"/>
                    <a:pt x="632192" y="741448"/>
                  </a:cubicBezTo>
                  <a:lnTo>
                    <a:pt x="33872" y="741448"/>
                  </a:lnTo>
                  <a:cubicBezTo>
                    <a:pt x="24888" y="741448"/>
                    <a:pt x="16273" y="737879"/>
                    <a:pt x="9921" y="731527"/>
                  </a:cubicBezTo>
                  <a:cubicBezTo>
                    <a:pt x="3569" y="725175"/>
                    <a:pt x="0" y="716560"/>
                    <a:pt x="0" y="707576"/>
                  </a:cubicBezTo>
                  <a:lnTo>
                    <a:pt x="0" y="33872"/>
                  </a:lnTo>
                  <a:cubicBezTo>
                    <a:pt x="0" y="24888"/>
                    <a:pt x="3569" y="16273"/>
                    <a:pt x="9921" y="9921"/>
                  </a:cubicBezTo>
                  <a:cubicBezTo>
                    <a:pt x="16273" y="3569"/>
                    <a:pt x="24888" y="0"/>
                    <a:pt x="338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A8E3"/>
              </a:solidFill>
              <a:prstDash val="solid"/>
              <a:round/>
            </a:ln>
          </p:spPr>
          <p:txBody>
            <a:bodyPr/>
            <a:lstStyle/>
            <a:p>
              <a:endParaRPr lang="es-AR" dirty="0"/>
            </a:p>
            <a:p>
              <a:endParaRPr lang="es-AR" dirty="0"/>
            </a:p>
            <a:p>
              <a:pPr algn="just"/>
              <a:r>
                <a:rPr lang="es-AR" sz="2400" dirty="0"/>
                <a:t>La necesidad es procesar dos archivos CSV de fuentes originales (customer_data.csv y sales_data.csv) para convertirlos en un </a:t>
              </a:r>
              <a:r>
                <a:rPr lang="es-AR" sz="2400" dirty="0" err="1"/>
                <a:t>dataset</a:t>
              </a:r>
              <a:r>
                <a:rPr lang="es-AR" sz="2400" dirty="0"/>
                <a:t> limpio y estructurado. El objetivo es realizar un análisis de ventas que responda a requerimientos específicos de negocio, como la moda de pago, distribución por género y edad, y precios por categoría</a:t>
              </a:r>
            </a:p>
            <a:p>
              <a:endParaRPr lang="es-A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AR" sz="2400" b="1" dirty="0"/>
                <a:t>Modo de pago más frecuente (global y por género</a:t>
              </a:r>
              <a:r>
                <a:rPr lang="es-AR" sz="2400" b="1"/>
                <a:t>)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AR" sz="2400" b="1"/>
                <a:t>Categorización </a:t>
              </a:r>
              <a:r>
                <a:rPr lang="es-AR" sz="2400" b="1" dirty="0"/>
                <a:t>de clientes por forma de pago, edad y género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AR" sz="2400" b="1" dirty="0"/>
                <a:t>Métodos de pago en rango etario 25–35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AR" sz="2400" b="1" dirty="0"/>
                <a:t>Métodos de pago más usados por mujeres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AR" sz="2400" b="1" dirty="0"/>
                <a:t>Precios por categoría de producto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666063" cy="817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689882" y="4994632"/>
            <a:ext cx="4653301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sz="2199" b="1" dirty="0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PROBLEMÁTICA | NECESIDAD | CASO: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279505" y="4828866"/>
            <a:ext cx="4966095" cy="8531327"/>
            <a:chOff x="0" y="-121446"/>
            <a:chExt cx="616384" cy="1058895"/>
          </a:xfrm>
        </p:grpSpPr>
        <p:sp>
          <p:nvSpPr>
            <p:cNvPr id="20" name="Freeform 20"/>
            <p:cNvSpPr/>
            <p:nvPr/>
          </p:nvSpPr>
          <p:spPr>
            <a:xfrm>
              <a:off x="0" y="-121446"/>
              <a:ext cx="616384" cy="1058895"/>
            </a:xfrm>
            <a:custGeom>
              <a:avLst/>
              <a:gdLst/>
              <a:ahLst/>
              <a:cxnLst/>
              <a:rect l="l" t="t" r="r" b="b"/>
              <a:pathLst>
                <a:path w="616384" h="726819">
                  <a:moveTo>
                    <a:pt x="35856" y="0"/>
                  </a:moveTo>
                  <a:lnTo>
                    <a:pt x="580528" y="0"/>
                  </a:lnTo>
                  <a:cubicBezTo>
                    <a:pt x="600331" y="0"/>
                    <a:pt x="616384" y="16053"/>
                    <a:pt x="616384" y="35856"/>
                  </a:cubicBezTo>
                  <a:lnTo>
                    <a:pt x="616384" y="690963"/>
                  </a:lnTo>
                  <a:cubicBezTo>
                    <a:pt x="616384" y="710766"/>
                    <a:pt x="600331" y="726819"/>
                    <a:pt x="580528" y="726819"/>
                  </a:cubicBezTo>
                  <a:lnTo>
                    <a:pt x="35856" y="726819"/>
                  </a:lnTo>
                  <a:cubicBezTo>
                    <a:pt x="16053" y="726819"/>
                    <a:pt x="0" y="710766"/>
                    <a:pt x="0" y="690963"/>
                  </a:cubicBezTo>
                  <a:lnTo>
                    <a:pt x="0" y="35856"/>
                  </a:lnTo>
                  <a:cubicBezTo>
                    <a:pt x="0" y="16053"/>
                    <a:pt x="16053" y="0"/>
                    <a:pt x="358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A8E3"/>
              </a:solidFill>
              <a:prstDash val="solid"/>
              <a:round/>
            </a:ln>
          </p:spPr>
          <p:txBody>
            <a:bodyPr/>
            <a:lstStyle/>
            <a:p>
              <a:endParaRPr lang="es-AR" dirty="0"/>
            </a:p>
            <a:p>
              <a:endParaRPr lang="es-AR" dirty="0"/>
            </a:p>
            <a:p>
              <a:r>
                <a:rPr lang="es-AR" sz="2400" dirty="0"/>
                <a:t>Diseñar y documentar un pipeline ETL con Pandas que integre los datos de clientes y ventas para producir un </a:t>
              </a:r>
              <a:r>
                <a:rPr lang="es-AR" sz="2400" dirty="0" err="1"/>
                <a:t>dataset</a:t>
              </a:r>
              <a:r>
                <a:rPr lang="es-AR" sz="2400" dirty="0"/>
                <a:t> limpio, indicadores analíticos y su carga en una base de datos relacional.</a:t>
              </a:r>
              <a:endParaRPr lang="es-AR" dirty="0"/>
            </a:p>
            <a:p>
              <a:endParaRPr lang="es-AR" dirty="0"/>
            </a:p>
            <a:p>
              <a:r>
                <a:rPr lang="es-AR" sz="2400" dirty="0"/>
                <a:t>1. Leer y verificar los datos de entrada. 2. Estandarizar, limpiar y unir las tablas de clientes y ventas. 3. Crear una columna derivada de segmentación por edad (</a:t>
              </a:r>
              <a:r>
                <a:rPr lang="es-AR" sz="2400" dirty="0" err="1"/>
                <a:t>age_group</a:t>
              </a:r>
              <a:r>
                <a:rPr lang="es-AR" sz="2400" dirty="0"/>
                <a:t>). 4. Generar tablas resumen para responder a requerimientos específicos (Modo de pago por género y edad). 5. Exportar el </a:t>
              </a:r>
              <a:r>
                <a:rPr lang="es-AR" sz="2400" dirty="0" err="1"/>
                <a:t>dataset</a:t>
              </a:r>
              <a:r>
                <a:rPr lang="es-AR" sz="2400" dirty="0"/>
                <a:t> limpio a un archivo CSV. 6. Cargar los datos transformados a una base de datos relacional (MySQL). 7. Realizar un Análisis Exploratorio de Datos (EDA) generando gráficos simples (métodos de pago, precios por categoría)</a:t>
              </a:r>
            </a:p>
            <a:p>
              <a:endParaRPr lang="es-AR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616384" cy="803019"/>
            </a:xfrm>
            <a:prstGeom prst="rect">
              <a:avLst/>
            </a:prstGeom>
          </p:spPr>
          <p:txBody>
            <a:bodyPr lIns="51856" tIns="51856" rIns="51856" bIns="51856" rtlCol="0" anchor="ctr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777374" y="11996560"/>
            <a:ext cx="32058175" cy="1911949"/>
            <a:chOff x="0" y="0"/>
            <a:chExt cx="42744233" cy="254926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372117" cy="2074876"/>
            </a:xfrm>
            <a:custGeom>
              <a:avLst/>
              <a:gdLst/>
              <a:ahLst/>
              <a:cxnLst/>
              <a:rect l="l" t="t" r="r" b="b"/>
              <a:pathLst>
                <a:path w="21372117" h="2074876">
                  <a:moveTo>
                    <a:pt x="0" y="0"/>
                  </a:moveTo>
                  <a:lnTo>
                    <a:pt x="21372117" y="0"/>
                  </a:lnTo>
                  <a:lnTo>
                    <a:pt x="21372117" y="2074876"/>
                  </a:lnTo>
                  <a:lnTo>
                    <a:pt x="0" y="2074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24" name="Freeform 24"/>
            <p:cNvSpPr/>
            <p:nvPr/>
          </p:nvSpPr>
          <p:spPr>
            <a:xfrm rot="-10800000">
              <a:off x="21372117" y="884021"/>
              <a:ext cx="21372117" cy="1665244"/>
            </a:xfrm>
            <a:custGeom>
              <a:avLst/>
              <a:gdLst/>
              <a:ahLst/>
              <a:cxnLst/>
              <a:rect l="l" t="t" r="r" b="b"/>
              <a:pathLst>
                <a:path w="21372117" h="1665244">
                  <a:moveTo>
                    <a:pt x="0" y="0"/>
                  </a:moveTo>
                  <a:lnTo>
                    <a:pt x="21372116" y="0"/>
                  </a:lnTo>
                  <a:lnTo>
                    <a:pt x="21372116" y="1665244"/>
                  </a:lnTo>
                  <a:lnTo>
                    <a:pt x="0" y="166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5" name="Freeform 25"/>
          <p:cNvSpPr/>
          <p:nvPr/>
        </p:nvSpPr>
        <p:spPr>
          <a:xfrm rot="5400000">
            <a:off x="2479249" y="12174679"/>
            <a:ext cx="955335" cy="1963072"/>
          </a:xfrm>
          <a:custGeom>
            <a:avLst/>
            <a:gdLst/>
            <a:ahLst/>
            <a:cxnLst/>
            <a:rect l="l" t="t" r="r" b="b"/>
            <a:pathLst>
              <a:path w="955335" h="1963072">
                <a:moveTo>
                  <a:pt x="0" y="0"/>
                </a:moveTo>
                <a:lnTo>
                  <a:pt x="955334" y="0"/>
                </a:lnTo>
                <a:lnTo>
                  <a:pt x="955334" y="1963071"/>
                </a:lnTo>
                <a:lnTo>
                  <a:pt x="0" y="19630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26" name="Freeform 26"/>
          <p:cNvSpPr/>
          <p:nvPr/>
        </p:nvSpPr>
        <p:spPr>
          <a:xfrm>
            <a:off x="20534270" y="22148270"/>
            <a:ext cx="849730" cy="1975532"/>
          </a:xfrm>
          <a:custGeom>
            <a:avLst/>
            <a:gdLst/>
            <a:ahLst/>
            <a:cxnLst/>
            <a:rect l="l" t="t" r="r" b="b"/>
            <a:pathLst>
              <a:path w="849730" h="1975532">
                <a:moveTo>
                  <a:pt x="0" y="0"/>
                </a:moveTo>
                <a:lnTo>
                  <a:pt x="849730" y="0"/>
                </a:lnTo>
                <a:lnTo>
                  <a:pt x="849730" y="1975533"/>
                </a:lnTo>
                <a:lnTo>
                  <a:pt x="0" y="1975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27" name="Freeform 27"/>
          <p:cNvSpPr/>
          <p:nvPr/>
        </p:nvSpPr>
        <p:spPr>
          <a:xfrm>
            <a:off x="0" y="24368803"/>
            <a:ext cx="849730" cy="1975532"/>
          </a:xfrm>
          <a:custGeom>
            <a:avLst/>
            <a:gdLst/>
            <a:ahLst/>
            <a:cxnLst/>
            <a:rect l="l" t="t" r="r" b="b"/>
            <a:pathLst>
              <a:path w="849730" h="1975532">
                <a:moveTo>
                  <a:pt x="0" y="0"/>
                </a:moveTo>
                <a:lnTo>
                  <a:pt x="849730" y="0"/>
                </a:lnTo>
                <a:lnTo>
                  <a:pt x="849730" y="1975532"/>
                </a:lnTo>
                <a:lnTo>
                  <a:pt x="0" y="1975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grpSp>
        <p:nvGrpSpPr>
          <p:cNvPr id="28" name="Group 28"/>
          <p:cNvGrpSpPr/>
          <p:nvPr/>
        </p:nvGrpSpPr>
        <p:grpSpPr>
          <a:xfrm>
            <a:off x="-1592014" y="1752991"/>
            <a:ext cx="23982403" cy="2911344"/>
            <a:chOff x="0" y="0"/>
            <a:chExt cx="3038549" cy="36886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38549" cy="368865"/>
            </a:xfrm>
            <a:custGeom>
              <a:avLst/>
              <a:gdLst/>
              <a:ahLst/>
              <a:cxnLst/>
              <a:rect l="l" t="t" r="r" b="b"/>
              <a:pathLst>
                <a:path w="3038549" h="368865">
                  <a:moveTo>
                    <a:pt x="33896" y="0"/>
                  </a:moveTo>
                  <a:lnTo>
                    <a:pt x="3004653" y="0"/>
                  </a:lnTo>
                  <a:cubicBezTo>
                    <a:pt x="3023373" y="0"/>
                    <a:pt x="3038549" y="15176"/>
                    <a:pt x="3038549" y="33896"/>
                  </a:cubicBezTo>
                  <a:lnTo>
                    <a:pt x="3038549" y="334969"/>
                  </a:lnTo>
                  <a:cubicBezTo>
                    <a:pt x="3038549" y="353689"/>
                    <a:pt x="3023373" y="368865"/>
                    <a:pt x="3004653" y="368865"/>
                  </a:cubicBezTo>
                  <a:lnTo>
                    <a:pt x="33896" y="368865"/>
                  </a:lnTo>
                  <a:cubicBezTo>
                    <a:pt x="15176" y="368865"/>
                    <a:pt x="0" y="353689"/>
                    <a:pt x="0" y="334969"/>
                  </a:cubicBezTo>
                  <a:lnTo>
                    <a:pt x="0" y="33896"/>
                  </a:lnTo>
                  <a:cubicBezTo>
                    <a:pt x="0" y="15176"/>
                    <a:pt x="15176" y="0"/>
                    <a:pt x="33896" y="0"/>
                  </a:cubicBezTo>
                  <a:close/>
                </a:path>
              </a:pathLst>
            </a:custGeom>
            <a:solidFill>
              <a:srgbClr val="00A8E3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3038549" cy="445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6653075" y="1070014"/>
            <a:ext cx="4002377" cy="4200858"/>
          </a:xfrm>
          <a:custGeom>
            <a:avLst/>
            <a:gdLst/>
            <a:ahLst/>
            <a:cxnLst/>
            <a:rect l="l" t="t" r="r" b="b"/>
            <a:pathLst>
              <a:path w="4002377" h="4200858">
                <a:moveTo>
                  <a:pt x="0" y="0"/>
                </a:moveTo>
                <a:lnTo>
                  <a:pt x="4002378" y="0"/>
                </a:lnTo>
                <a:lnTo>
                  <a:pt x="4002378" y="4200858"/>
                </a:lnTo>
                <a:lnTo>
                  <a:pt x="0" y="42008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2" name="TextBox 32"/>
          <p:cNvSpPr txBox="1"/>
          <p:nvPr/>
        </p:nvSpPr>
        <p:spPr>
          <a:xfrm>
            <a:off x="-1177858" y="1941899"/>
            <a:ext cx="18228927" cy="2272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39"/>
              </a:lnSpc>
            </a:pPr>
            <a:r>
              <a:rPr lang="es-AR" sz="4800" b="1" dirty="0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ETL con Pandas para el análisis de ventas o Exploración, Transformación y Limpieza de Datos utilizando Pandas</a:t>
            </a:r>
            <a:endParaRPr lang="en-US" sz="4800" b="1" dirty="0">
              <a:solidFill>
                <a:srgbClr val="FFFFFF"/>
              </a:solidFill>
              <a:latin typeface="Anek Bangla Bold"/>
              <a:ea typeface="Anek Bangla Bold"/>
              <a:cs typeface="Anek Bangla Bold"/>
              <a:sym typeface="Anek Bangla Bold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2111265" y="13340172"/>
            <a:ext cx="17134335" cy="7964695"/>
            <a:chOff x="-3438" y="-76200"/>
            <a:chExt cx="2170905" cy="1009120"/>
          </a:xfrm>
        </p:grpSpPr>
        <p:sp>
          <p:nvSpPr>
            <p:cNvPr id="34" name="Freeform 34"/>
            <p:cNvSpPr/>
            <p:nvPr/>
          </p:nvSpPr>
          <p:spPr>
            <a:xfrm>
              <a:off x="-3438" y="3366"/>
              <a:ext cx="2167467" cy="929554"/>
            </a:xfrm>
            <a:custGeom>
              <a:avLst/>
              <a:gdLst/>
              <a:ahLst/>
              <a:cxnLst/>
              <a:rect l="l" t="t" r="r" b="b"/>
              <a:pathLst>
                <a:path w="2167467" h="929554">
                  <a:moveTo>
                    <a:pt x="10409" y="0"/>
                  </a:moveTo>
                  <a:lnTo>
                    <a:pt x="2157058" y="0"/>
                  </a:lnTo>
                  <a:cubicBezTo>
                    <a:pt x="2162807" y="0"/>
                    <a:pt x="2167467" y="4660"/>
                    <a:pt x="2167467" y="10409"/>
                  </a:cubicBezTo>
                  <a:lnTo>
                    <a:pt x="2167467" y="919145"/>
                  </a:lnTo>
                  <a:cubicBezTo>
                    <a:pt x="2167467" y="924893"/>
                    <a:pt x="2162807" y="929554"/>
                    <a:pt x="2157058" y="929554"/>
                  </a:cubicBezTo>
                  <a:lnTo>
                    <a:pt x="10409" y="929554"/>
                  </a:lnTo>
                  <a:cubicBezTo>
                    <a:pt x="4660" y="929554"/>
                    <a:pt x="0" y="924893"/>
                    <a:pt x="0" y="919145"/>
                  </a:cubicBezTo>
                  <a:lnTo>
                    <a:pt x="0" y="10409"/>
                  </a:lnTo>
                  <a:cubicBezTo>
                    <a:pt x="0" y="4660"/>
                    <a:pt x="4660" y="0"/>
                    <a:pt x="1040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A8E3"/>
              </a:solidFill>
              <a:prstDash val="solid"/>
              <a:round/>
            </a:ln>
          </p:spPr>
          <p:txBody>
            <a:bodyPr/>
            <a:lstStyle/>
            <a:p>
              <a:endParaRPr lang="es-AR" dirty="0"/>
            </a:p>
            <a:p>
              <a:endParaRPr lang="es-AR" dirty="0"/>
            </a:p>
            <a:p>
              <a:endParaRPr lang="es-AR" dirty="0"/>
            </a:p>
            <a:p>
              <a:endParaRPr lang="es-AR" dirty="0"/>
            </a:p>
            <a:p>
              <a:endParaRPr lang="es-AR" dirty="0"/>
            </a:p>
            <a:p>
              <a:endParaRPr lang="es-AR" dirty="0"/>
            </a:p>
            <a:p>
              <a:pPr algn="just"/>
              <a:r>
                <a:rPr lang="es-AR" sz="2400" dirty="0"/>
                <a:t>El proyecto busca demostrar las capacidades de Python y la librería Pandas para manejar y limpiar grandes volúmenes de datos. Es crucial preparar los datos (limpieza de valores, estandarización y unificación) antes de cargarlos a la base de datos o realizar cualquier análisis exploratorio. Hipótesis (Implícita): Al aplicar el flujo ETL, se podrán identificar </a:t>
              </a:r>
              <a:r>
                <a:rPr lang="es-AR" sz="2400" dirty="0" err="1"/>
                <a:t>insights</a:t>
              </a:r>
              <a:r>
                <a:rPr lang="es-AR" sz="2400" dirty="0"/>
                <a:t> de negocio accionables, como el predominio del efectivo como método de pago y las categorías que generan los tickets promedio más altos (</a:t>
              </a:r>
              <a:r>
                <a:rPr lang="es-AR" sz="2400" dirty="0" err="1"/>
                <a:t>Technology</a:t>
              </a:r>
              <a:r>
                <a:rPr lang="es-AR" sz="2400" dirty="0"/>
                <a:t> y </a:t>
              </a:r>
              <a:r>
                <a:rPr lang="es-AR" sz="2400" dirty="0" err="1"/>
                <a:t>Shoes</a:t>
              </a:r>
              <a:r>
                <a:rPr lang="es-AR" sz="2400" dirty="0"/>
                <a:t>)</a:t>
              </a:r>
            </a:p>
            <a:p>
              <a:endParaRPr lang="es-AR" dirty="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2167467" cy="1005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319131" y="14829574"/>
            <a:ext cx="4619610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sz="2199" b="1" dirty="0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FUNDAMENTACIÓN | HIPÓTESIS: 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2138400" y="21912836"/>
            <a:ext cx="7677084" cy="6319878"/>
            <a:chOff x="0" y="0"/>
            <a:chExt cx="972680" cy="80072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72680" cy="800723"/>
            </a:xfrm>
            <a:custGeom>
              <a:avLst/>
              <a:gdLst/>
              <a:ahLst/>
              <a:cxnLst/>
              <a:rect l="l" t="t" r="r" b="b"/>
              <a:pathLst>
                <a:path w="972680" h="800723">
                  <a:moveTo>
                    <a:pt x="23194" y="0"/>
                  </a:moveTo>
                  <a:lnTo>
                    <a:pt x="949485" y="0"/>
                  </a:lnTo>
                  <a:cubicBezTo>
                    <a:pt x="962295" y="0"/>
                    <a:pt x="972680" y="10384"/>
                    <a:pt x="972680" y="23194"/>
                  </a:cubicBezTo>
                  <a:lnTo>
                    <a:pt x="972680" y="777529"/>
                  </a:lnTo>
                  <a:cubicBezTo>
                    <a:pt x="972680" y="790338"/>
                    <a:pt x="962295" y="800723"/>
                    <a:pt x="949485" y="800723"/>
                  </a:cubicBezTo>
                  <a:lnTo>
                    <a:pt x="23194" y="800723"/>
                  </a:lnTo>
                  <a:cubicBezTo>
                    <a:pt x="10384" y="800723"/>
                    <a:pt x="0" y="790338"/>
                    <a:pt x="0" y="777529"/>
                  </a:cubicBezTo>
                  <a:lnTo>
                    <a:pt x="0" y="23194"/>
                  </a:lnTo>
                  <a:cubicBezTo>
                    <a:pt x="0" y="10384"/>
                    <a:pt x="10384" y="0"/>
                    <a:pt x="231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A8E3"/>
              </a:solidFill>
              <a:prstDash val="solid"/>
              <a:round/>
            </a:ln>
          </p:spPr>
          <p:txBody>
            <a:bodyPr/>
            <a:lstStyle/>
            <a:p>
              <a:endParaRPr lang="es-AR" dirty="0"/>
            </a:p>
            <a:p>
              <a:endParaRPr lang="es-AR" dirty="0"/>
            </a:p>
            <a:p>
              <a:endParaRPr lang="es-AR" dirty="0"/>
            </a:p>
            <a:p>
              <a:r>
                <a:rPr lang="es-AR" sz="2400" dirty="0"/>
                <a:t>Acciones Principales: 1. </a:t>
              </a:r>
              <a:r>
                <a:rPr lang="es-AR" sz="2400" dirty="0" err="1"/>
                <a:t>Extract</a:t>
              </a:r>
              <a:r>
                <a:rPr lang="es-AR" sz="2400" dirty="0"/>
                <a:t>: Lectura de ambos CSV en </a:t>
              </a:r>
              <a:r>
                <a:rPr lang="es-AR" sz="2400" dirty="0" err="1"/>
                <a:t>DataFrames</a:t>
              </a:r>
              <a:r>
                <a:rPr lang="es-AR" sz="2400" dirty="0"/>
                <a:t>. 2. </a:t>
              </a:r>
              <a:r>
                <a:rPr lang="es-AR" sz="2400" dirty="0" err="1"/>
                <a:t>Transform</a:t>
              </a:r>
              <a:r>
                <a:rPr lang="es-AR" sz="2400" dirty="0"/>
                <a:t>: Estandarización de nombres, conversión de fechas a </a:t>
              </a:r>
              <a:r>
                <a:rPr lang="es-AR" sz="2400" dirty="0" err="1"/>
                <a:t>datetime</a:t>
              </a:r>
              <a:r>
                <a:rPr lang="es-AR" sz="2400" dirty="0"/>
                <a:t>, limpieza de valores (unificación de género, tipificación numérica, anulación de valores negativos), unión de tablas (</a:t>
              </a:r>
              <a:r>
                <a:rPr lang="es-AR" sz="2400" dirty="0" err="1"/>
                <a:t>sales.merge</a:t>
              </a:r>
              <a:r>
                <a:rPr lang="es-AR" sz="2400" dirty="0"/>
                <a:t>(</a:t>
              </a:r>
              <a:r>
                <a:rPr lang="es-AR" sz="2400" dirty="0" err="1"/>
                <a:t>customers</a:t>
              </a:r>
              <a:r>
                <a:rPr lang="es-AR" sz="2400" dirty="0"/>
                <a:t>)), y creación de la columna derivada </a:t>
              </a:r>
              <a:r>
                <a:rPr lang="es-AR" sz="2400" dirty="0" err="1"/>
                <a:t>age_group</a:t>
              </a:r>
              <a:r>
                <a:rPr lang="es-AR" sz="2400" dirty="0"/>
                <a:t>. 3. Load: Exportación del </a:t>
              </a:r>
              <a:r>
                <a:rPr lang="es-AR" sz="2400" dirty="0" err="1"/>
                <a:t>dataset</a:t>
              </a:r>
              <a:r>
                <a:rPr lang="es-AR" sz="2400" dirty="0"/>
                <a:t> limpio (etl_clean.csv) y carga opcional a MySQL (esquema </a:t>
              </a:r>
              <a:r>
                <a:rPr lang="es-AR" sz="2400" dirty="0" err="1"/>
                <a:t>etl_ventas</a:t>
              </a:r>
              <a:r>
                <a:rPr lang="es-AR" sz="2400" dirty="0"/>
                <a:t>, tabla </a:t>
              </a:r>
              <a:r>
                <a:rPr lang="es-AR" sz="2400" dirty="0" err="1"/>
                <a:t>ventas_clientes_clean</a:t>
              </a:r>
              <a:r>
                <a:rPr lang="es-AR" sz="2400" dirty="0"/>
                <a:t>). Recursos: Python 3.10+ (probado con 3.11), Librerías (Pandas, </a:t>
              </a:r>
              <a:r>
                <a:rPr lang="es-AR" sz="2400" dirty="0" err="1"/>
                <a:t>SQLAlchemy</a:t>
              </a:r>
              <a:r>
                <a:rPr lang="es-AR" sz="2400" dirty="0"/>
                <a:t>, etc.), </a:t>
              </a:r>
              <a:r>
                <a:rPr lang="es-AR" sz="2400" dirty="0" err="1"/>
                <a:t>JupyterLab</a:t>
              </a:r>
              <a:r>
                <a:rPr lang="es-AR" sz="2400" dirty="0"/>
                <a:t> o VS Code, MySQL, customer_data.csv y sales_data.csv. </a:t>
              </a:r>
              <a:endParaRPr lang="es-AR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972680" cy="876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239507" y="22199719"/>
            <a:ext cx="4318907" cy="37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ACCIONES | RECURSOS  |  TIEMPO: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574468" y="21912836"/>
            <a:ext cx="8671132" cy="6281778"/>
            <a:chOff x="0" y="0"/>
            <a:chExt cx="1120832" cy="81198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20832" cy="811984"/>
            </a:xfrm>
            <a:custGeom>
              <a:avLst/>
              <a:gdLst/>
              <a:ahLst/>
              <a:cxnLst/>
              <a:rect l="l" t="t" r="r" b="b"/>
              <a:pathLst>
                <a:path w="1120832" h="811984">
                  <a:moveTo>
                    <a:pt x="20535" y="0"/>
                  </a:moveTo>
                  <a:lnTo>
                    <a:pt x="1100297" y="0"/>
                  </a:lnTo>
                  <a:cubicBezTo>
                    <a:pt x="1111638" y="0"/>
                    <a:pt x="1120832" y="9194"/>
                    <a:pt x="1120832" y="20535"/>
                  </a:cubicBezTo>
                  <a:lnTo>
                    <a:pt x="1120832" y="791449"/>
                  </a:lnTo>
                  <a:cubicBezTo>
                    <a:pt x="1120832" y="802790"/>
                    <a:pt x="1111638" y="811984"/>
                    <a:pt x="1100297" y="811984"/>
                  </a:cubicBezTo>
                  <a:lnTo>
                    <a:pt x="20535" y="811984"/>
                  </a:lnTo>
                  <a:cubicBezTo>
                    <a:pt x="9194" y="811984"/>
                    <a:pt x="0" y="802790"/>
                    <a:pt x="0" y="791449"/>
                  </a:cubicBezTo>
                  <a:lnTo>
                    <a:pt x="0" y="20535"/>
                  </a:lnTo>
                  <a:cubicBezTo>
                    <a:pt x="0" y="9194"/>
                    <a:pt x="9194" y="0"/>
                    <a:pt x="205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A8E3"/>
              </a:solidFill>
              <a:prstDash val="solid"/>
              <a:round/>
            </a:ln>
          </p:spPr>
          <p:txBody>
            <a:bodyPr/>
            <a:lstStyle/>
            <a:p>
              <a:endParaRPr lang="es-AR" dirty="0"/>
            </a:p>
            <a:p>
              <a:endParaRPr lang="es-AR" dirty="0"/>
            </a:p>
            <a:p>
              <a:endParaRPr lang="es-AR" dirty="0"/>
            </a:p>
            <a:p>
              <a:r>
                <a:rPr lang="es-AR" sz="2400" dirty="0"/>
                <a:t>Producto Final: El </a:t>
              </a:r>
              <a:r>
                <a:rPr lang="es-AR" sz="2400" dirty="0" err="1"/>
                <a:t>dataset</a:t>
              </a:r>
              <a:r>
                <a:rPr lang="es-AR" sz="2400" dirty="0"/>
                <a:t> curado outputs/etl_clean.csv, el cuaderno principal </a:t>
              </a:r>
              <a:r>
                <a:rPr lang="es-AR" sz="2400" dirty="0" err="1"/>
                <a:t>TP_ETL_con_Pandas.ipynb</a:t>
              </a:r>
              <a:r>
                <a:rPr lang="es-AR" sz="2400" dirty="0"/>
                <a:t> con el pipeline completo, el archivo </a:t>
              </a:r>
              <a:r>
                <a:rPr lang="es-AR" sz="2400" dirty="0" err="1"/>
                <a:t>etl_sql.sql</a:t>
              </a:r>
              <a:r>
                <a:rPr lang="es-AR" sz="2400" dirty="0"/>
                <a:t> con DDL y consultas de verificación, y el informe informe_ETL.md. Conclusiones/</a:t>
              </a:r>
              <a:r>
                <a:rPr lang="es-AR" sz="2400" dirty="0" err="1"/>
                <a:t>Insights</a:t>
              </a:r>
              <a:r>
                <a:rPr lang="es-AR" sz="2400" dirty="0"/>
                <a:t>: El efectivo (Cash) es el modo de pago global predominante (44.447 operaciones), incluso en el segmento joven-adulto (25-35 años). Las categorías </a:t>
              </a:r>
              <a:r>
                <a:rPr lang="es-AR" sz="2400" dirty="0" err="1"/>
                <a:t>Technology</a:t>
              </a:r>
              <a:r>
                <a:rPr lang="es-AR" sz="2400" dirty="0"/>
                <a:t> y </a:t>
              </a:r>
              <a:r>
                <a:rPr lang="es-AR" sz="2400" dirty="0" err="1"/>
                <a:t>Shoes</a:t>
              </a:r>
              <a:r>
                <a:rPr lang="es-AR" sz="2400" dirty="0"/>
                <a:t> concentran los tickets promedio más altos. Se identifica una oportunidad para promover canales digitales debido al alto uso de efectivo. Resultados Esperados: Validación exitosa de los cálculos tanto en Pandas como en las consultas SQL.</a:t>
              </a:r>
            </a:p>
            <a:p>
              <a:endParaRPr lang="es-AR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76200"/>
              <a:ext cx="1120832" cy="888184"/>
            </a:xfrm>
            <a:prstGeom prst="rect">
              <a:avLst/>
            </a:prstGeom>
          </p:spPr>
          <p:txBody>
            <a:bodyPr lIns="49793" tIns="49793" rIns="49793" bIns="49793" rtlCol="0" anchor="ctr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0839450" y="22198272"/>
            <a:ext cx="7500770" cy="37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8"/>
              </a:lnSpc>
            </a:pPr>
            <a:r>
              <a:rPr lang="en-US" sz="2156" b="1" dirty="0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PRODUCTO FINAL | CONCLUSIONES  | RESULTADOS ESPERADOS: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345190" y="5018408"/>
            <a:ext cx="2432401" cy="37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8"/>
              </a:lnSpc>
            </a:pPr>
            <a:r>
              <a:rPr lang="en-US" sz="2156" b="1" dirty="0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OBJETIVO GENERAL: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345190" y="7621356"/>
            <a:ext cx="2953723" cy="37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8"/>
              </a:lnSpc>
            </a:pPr>
            <a:r>
              <a:rPr lang="en-US" sz="2156" b="1" dirty="0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OBJETIVOS ESPECÍFICOS: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345128" y="28427166"/>
            <a:ext cx="1829516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8"/>
              </a:lnSpc>
            </a:pPr>
            <a:r>
              <a:rPr lang="en-US" sz="2156" b="1" dirty="0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INTEGRANTES: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692000" y="28427166"/>
            <a:ext cx="1902432" cy="37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8"/>
              </a:lnSpc>
            </a:pPr>
            <a:r>
              <a:rPr lang="en-US" sz="2156" b="1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TECNICATURA: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016533" y="29069323"/>
            <a:ext cx="1253367" cy="37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8"/>
              </a:lnSpc>
            </a:pPr>
            <a:r>
              <a:rPr lang="en-US" sz="2156" b="1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COHORTE: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56880" y="29069323"/>
            <a:ext cx="1206012" cy="37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8"/>
              </a:lnSpc>
            </a:pPr>
            <a:r>
              <a:rPr lang="en-US" sz="2156" b="1">
                <a:solidFill>
                  <a:srgbClr val="00A8E3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DOCENTE:</a:t>
            </a:r>
          </a:p>
        </p:txBody>
      </p:sp>
      <p:sp>
        <p:nvSpPr>
          <p:cNvPr id="53" name="Rectangle 1">
            <a:extLst>
              <a:ext uri="{FF2B5EF4-FFF2-40B4-BE49-F238E27FC236}">
                <a16:creationId xmlns:a16="http://schemas.microsoft.com/office/drawing/2014/main" id="{FC6CEC10-3E47-EDA1-127D-834E6BE51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74100" cy="0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>
                <a:ln>
                  <a:noFill/>
                </a:ln>
                <a:solidFill>
                  <a:srgbClr val="C7C7C7"/>
                </a:solidFill>
                <a:effectLst/>
                <a:latin typeface="Google Sans Text"/>
              </a:rPr>
              <a:t>Es un trabajo práctico orientado a demostrar un flujo completo </a:t>
            </a:r>
            <a:r>
              <a:rPr kumimoji="0" lang="es-AR" altLang="es-AR" sz="1000" b="1" i="0" u="none" strike="noStrike" cap="none" normalizeH="0" baseline="0">
                <a:ln>
                  <a:noFill/>
                </a:ln>
                <a:solidFill>
                  <a:srgbClr val="C7C7C7"/>
                </a:solidFill>
                <a:effectLst/>
                <a:latin typeface="Google Sans Text"/>
              </a:rPr>
              <a:t>Extract - Transform - Load (ETL)</a:t>
            </a:r>
            <a:r>
              <a:rPr kumimoji="0" lang="es-AR" altLang="es-AR" sz="1000" b="0" i="0" u="none" strike="noStrike" cap="none" normalizeH="0" baseline="0">
                <a:ln>
                  <a:noFill/>
                </a:ln>
                <a:solidFill>
                  <a:srgbClr val="C7C7C7"/>
                </a:solidFill>
                <a:effectLst/>
                <a:latin typeface="Google Sans Text"/>
              </a:rPr>
              <a:t> con Python. Consiste en la exploración, transformación y limpieza de datos utilizando Pandas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AR" alt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2">
            <a:extLst>
              <a:ext uri="{FF2B5EF4-FFF2-40B4-BE49-F238E27FC236}">
                <a16:creationId xmlns:a16="http://schemas.microsoft.com/office/drawing/2014/main" id="{C75B5869-95CE-B73C-B1F0-B4D3744DC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2137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>
                <a:ln>
                  <a:noFill/>
                </a:ln>
                <a:solidFill>
                  <a:srgbClr val="C7C7C7"/>
                </a:solidFill>
                <a:effectLst/>
                <a:latin typeface="Google Sans Text"/>
              </a:rPr>
              <a:t>La necesidad es procesar dos archivos CSV de fuentes originales (</a:t>
            </a:r>
            <a:r>
              <a:rPr kumimoji="0" lang="es-AR" altLang="es-AR" sz="1000" b="0" i="0" u="none" strike="noStrike" cap="none" normalizeH="0" baseline="0">
                <a:ln>
                  <a:noFill/>
                </a:ln>
                <a:solidFill>
                  <a:srgbClr val="C4C7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customer_data.csv</a:t>
            </a:r>
            <a:r>
              <a:rPr kumimoji="0" lang="es-AR" altLang="es-AR" sz="1000" b="0" i="0" u="none" strike="noStrike" cap="none" normalizeH="0" baseline="0">
                <a:ln>
                  <a:noFill/>
                </a:ln>
                <a:solidFill>
                  <a:srgbClr val="C7C7C7"/>
                </a:solidFill>
                <a:effectLst/>
                <a:latin typeface="Google Sans Text"/>
              </a:rPr>
              <a:t> y </a:t>
            </a:r>
            <a:r>
              <a:rPr kumimoji="0" lang="es-AR" altLang="es-AR" sz="1000" b="0" i="0" u="none" strike="noStrike" cap="none" normalizeH="0" baseline="0">
                <a:ln>
                  <a:noFill/>
                </a:ln>
                <a:solidFill>
                  <a:srgbClr val="C4C7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sales_data.csv</a:t>
            </a:r>
            <a:r>
              <a:rPr kumimoji="0" lang="es-AR" altLang="es-AR" sz="1000" b="0" i="0" u="none" strike="noStrike" cap="none" normalizeH="0" baseline="0">
                <a:ln>
                  <a:noFill/>
                </a:ln>
                <a:solidFill>
                  <a:srgbClr val="C7C7C7"/>
                </a:solidFill>
                <a:effectLst/>
                <a:latin typeface="Google Sans Text"/>
              </a:rPr>
              <a:t>) para convertirlos en un dataset limpio y estructurado. El objetivo es realizar un análisis de ventas que responda a requerimientos específicos de negocio, como la moda de pago, distribución por género y edad, y precios por categoría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AR" alt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BA04D10B-F1B3-422F-7F28-0C7B686CCF2E}"/>
              </a:ext>
            </a:extLst>
          </p:cNvPr>
          <p:cNvSpPr txBox="1"/>
          <p:nvPr/>
        </p:nvSpPr>
        <p:spPr>
          <a:xfrm>
            <a:off x="4217342" y="28350222"/>
            <a:ext cx="3854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/>
              <a:t>Albarracin Cristina Bartolomé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98E48C5A-134F-EC1E-629B-A0E603EAA9A2}"/>
              </a:ext>
            </a:extLst>
          </p:cNvPr>
          <p:cNvSpPr txBox="1"/>
          <p:nvPr/>
        </p:nvSpPr>
        <p:spPr>
          <a:xfrm>
            <a:off x="3938453" y="29006339"/>
            <a:ext cx="4396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/>
              <a:t>Ceballes Ramiro – Charletti Carlos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8F685E81-8B20-5B71-9425-1D8FF5226864}"/>
              </a:ext>
            </a:extLst>
          </p:cNvPr>
          <p:cNvSpPr txBox="1"/>
          <p:nvPr/>
        </p:nvSpPr>
        <p:spPr>
          <a:xfrm>
            <a:off x="12594432" y="28384185"/>
            <a:ext cx="4860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/>
              <a:t>Innovación de Datos - TSCDIA – 2025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27FD8F41-E50C-F425-9ABB-7B12BD13E6C8}"/>
              </a:ext>
            </a:extLst>
          </p:cNvPr>
          <p:cNvSpPr txBox="1"/>
          <p:nvPr/>
        </p:nvSpPr>
        <p:spPr>
          <a:xfrm>
            <a:off x="12594432" y="28975953"/>
            <a:ext cx="2520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/>
              <a:t>Ciclo Lectivo 2025</a:t>
            </a:r>
          </a:p>
        </p:txBody>
      </p:sp>
      <p:pic>
        <p:nvPicPr>
          <p:cNvPr id="77" name="Imagen 76">
            <a:extLst>
              <a:ext uri="{FF2B5EF4-FFF2-40B4-BE49-F238E27FC236}">
                <a16:creationId xmlns:a16="http://schemas.microsoft.com/office/drawing/2014/main" id="{A7A4736E-D357-67C5-0B93-A04F2DDC0F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7502" y="17304092"/>
            <a:ext cx="5058481" cy="3801005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31C92737-CB2D-D2FD-66C6-3B87BC5680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4865" y="17308854"/>
            <a:ext cx="5058481" cy="37914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858</Words>
  <Application>Microsoft Office PowerPoint</Application>
  <PresentationFormat>Personalizado</PresentationFormat>
  <Paragraphs>58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Calibri</vt:lpstr>
      <vt:lpstr>Anek Bangla Bold</vt:lpstr>
      <vt:lpstr>Courier New</vt:lpstr>
      <vt:lpstr>Arial</vt:lpstr>
      <vt:lpstr>Google Sans Text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Defensa en el Proyecto - ABP</dc:title>
  <cp:lastModifiedBy>Cristian B. Albarracin</cp:lastModifiedBy>
  <cp:revision>1</cp:revision>
  <dcterms:created xsi:type="dcterms:W3CDTF">2006-08-16T00:00:00Z</dcterms:created>
  <dcterms:modified xsi:type="dcterms:W3CDTF">2025-10-29T01:10:28Z</dcterms:modified>
  <dc:identifier>DAG3HzREWzs</dc:identifier>
</cp:coreProperties>
</file>